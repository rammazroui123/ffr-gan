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3E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874" y="-4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4966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8162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188" y="285750"/>
            <a:ext cx="47720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DFM-EUROPE × ELCS RESEARCH CONSORTIUM</a:t>
            </a:r>
            <a:endParaRPr lang="en-US" sz="1193" dirty="0"/>
          </a:p>
        </p:txBody>
      </p:sp>
      <p:sp>
        <p:nvSpPr>
          <p:cNvPr id="4" name="Text 1"/>
          <p:cNvSpPr/>
          <p:nvPr/>
        </p:nvSpPr>
        <p:spPr>
          <a:xfrm>
            <a:off x="357188" y="657225"/>
            <a:ext cx="4772025" cy="3520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kern="0" spc="-1" dirty="0">
                <a:solidFill>
                  <a:srgbClr val="1A4D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Generative Adversarial Framework for Patient-Specific Adjustment of Fractional Flow Reserve</a:t>
            </a:r>
            <a:endParaRPr lang="en-US" sz="3294" dirty="0"/>
          </a:p>
        </p:txBody>
      </p:sp>
      <p:sp>
        <p:nvSpPr>
          <p:cNvPr id="5" name="Text 2"/>
          <p:cNvSpPr/>
          <p:nvPr/>
        </p:nvSpPr>
        <p:spPr>
          <a:xfrm>
            <a:off x="357188" y="4320462"/>
            <a:ext cx="477202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Scientific Context:</a:t>
            </a:r>
            <a:r>
              <a:rPr lang="en-US" sz="94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Advanced AI models for non-invasive physiological assessment of coronary artery disease through computational fluid dynamics, deep learning, and clinical data fusion</a:t>
            </a:r>
            <a:endParaRPr lang="en-US" sz="885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9288" y="1377348"/>
            <a:ext cx="2917496" cy="24686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57188" y="5337665"/>
            <a:ext cx="393688" cy="235744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357188" y="5337665"/>
            <a:ext cx="21431" cy="235744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357188" y="5337665"/>
            <a:ext cx="393688" cy="235744"/>
          </a:xfrm>
          <a:prstGeom prst="rect">
            <a:avLst/>
          </a:prstGeom>
          <a:noFill/>
          <a:ln/>
        </p:spPr>
        <p:txBody>
          <a:bodyPr wrap="square" lIns="119126" tIns="51054" rIns="119126" bIns="51054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FFR</a:t>
            </a:r>
            <a:endParaRPr lang="en-US" sz="683" dirty="0"/>
          </a:p>
        </p:txBody>
      </p:sp>
      <p:sp>
        <p:nvSpPr>
          <p:cNvPr id="10" name="Shape 6"/>
          <p:cNvSpPr/>
          <p:nvPr/>
        </p:nvSpPr>
        <p:spPr>
          <a:xfrm>
            <a:off x="844888" y="5337665"/>
            <a:ext cx="1029370" cy="235744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844888" y="5337665"/>
            <a:ext cx="21431" cy="235744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844888" y="5337665"/>
            <a:ext cx="1029370" cy="235744"/>
          </a:xfrm>
          <a:prstGeom prst="rect">
            <a:avLst/>
          </a:prstGeom>
          <a:noFill/>
          <a:ln/>
        </p:spPr>
        <p:txBody>
          <a:bodyPr wrap="square" lIns="119126" tIns="51054" rIns="119126" bIns="51054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Conditional GAN</a:t>
            </a:r>
            <a:endParaRPr lang="en-US" sz="683" dirty="0"/>
          </a:p>
        </p:txBody>
      </p:sp>
      <p:sp>
        <p:nvSpPr>
          <p:cNvPr id="13" name="Shape 9"/>
          <p:cNvSpPr/>
          <p:nvPr/>
        </p:nvSpPr>
        <p:spPr>
          <a:xfrm>
            <a:off x="1968271" y="5337665"/>
            <a:ext cx="443610" cy="235744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1968271" y="5337665"/>
            <a:ext cx="21431" cy="235744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1968271" y="5337665"/>
            <a:ext cx="443610" cy="235744"/>
          </a:xfrm>
          <a:prstGeom prst="rect">
            <a:avLst/>
          </a:prstGeom>
          <a:noFill/>
          <a:ln/>
        </p:spPr>
        <p:txBody>
          <a:bodyPr wrap="square" lIns="119126" tIns="51054" rIns="119126" bIns="51054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CNN</a:t>
            </a:r>
            <a:endParaRPr lang="en-US" sz="683" dirty="0"/>
          </a:p>
        </p:txBody>
      </p:sp>
      <p:sp>
        <p:nvSpPr>
          <p:cNvPr id="16" name="Shape 12"/>
          <p:cNvSpPr/>
          <p:nvPr/>
        </p:nvSpPr>
        <p:spPr>
          <a:xfrm>
            <a:off x="2505894" y="5337665"/>
            <a:ext cx="942473" cy="235744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2505894" y="5337665"/>
            <a:ext cx="21431" cy="235744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2505894" y="5337665"/>
            <a:ext cx="942473" cy="235744"/>
          </a:xfrm>
          <a:prstGeom prst="rect">
            <a:avLst/>
          </a:prstGeom>
          <a:noFill/>
          <a:ln/>
        </p:spPr>
        <p:txBody>
          <a:bodyPr wrap="square" lIns="119126" tIns="51054" rIns="119126" bIns="51054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Multicentric AI</a:t>
            </a:r>
            <a:endParaRPr lang="en-US" sz="683" dirty="0"/>
          </a:p>
        </p:txBody>
      </p:sp>
      <p:sp>
        <p:nvSpPr>
          <p:cNvPr id="19" name="Shape 15"/>
          <p:cNvSpPr/>
          <p:nvPr/>
        </p:nvSpPr>
        <p:spPr>
          <a:xfrm>
            <a:off x="3542379" y="5337665"/>
            <a:ext cx="1134991" cy="235744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3542379" y="5337665"/>
            <a:ext cx="21431" cy="235744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3542379" y="5337665"/>
            <a:ext cx="1134991" cy="235744"/>
          </a:xfrm>
          <a:prstGeom prst="rect">
            <a:avLst/>
          </a:prstGeom>
          <a:noFill/>
          <a:ln/>
        </p:spPr>
        <p:txBody>
          <a:bodyPr wrap="square" lIns="119126" tIns="51054" rIns="119126" bIns="51054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Precision Medicine</a:t>
            </a:r>
            <a:endParaRPr lang="en-US" sz="683" dirty="0"/>
          </a:p>
        </p:txBody>
      </p:sp>
      <p:sp>
        <p:nvSpPr>
          <p:cNvPr id="22" name="Shape 18"/>
          <p:cNvSpPr/>
          <p:nvPr/>
        </p:nvSpPr>
        <p:spPr>
          <a:xfrm>
            <a:off x="4771383" y="5337665"/>
            <a:ext cx="1224707" cy="235744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4771383" y="5337665"/>
            <a:ext cx="21431" cy="235744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4771383" y="5337665"/>
            <a:ext cx="1224707" cy="235744"/>
          </a:xfrm>
          <a:prstGeom prst="rect">
            <a:avLst/>
          </a:prstGeom>
          <a:noFill/>
          <a:ln/>
        </p:spPr>
        <p:txBody>
          <a:bodyPr wrap="square" lIns="119126" tIns="51054" rIns="119126" bIns="51054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Coronary Physiology</a:t>
            </a:r>
            <a:endParaRPr lang="en-US" sz="683" dirty="0"/>
          </a:p>
        </p:txBody>
      </p:sp>
      <p:sp>
        <p:nvSpPr>
          <p:cNvPr id="25" name="Shape 21"/>
          <p:cNvSpPr/>
          <p:nvPr/>
        </p:nvSpPr>
        <p:spPr>
          <a:xfrm>
            <a:off x="6090103" y="5337665"/>
            <a:ext cx="1733559" cy="235744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6090103" y="5337665"/>
            <a:ext cx="21431" cy="235744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6090103" y="5337665"/>
            <a:ext cx="1733559" cy="235744"/>
          </a:xfrm>
          <a:prstGeom prst="rect">
            <a:avLst/>
          </a:prstGeom>
          <a:noFill/>
          <a:ln/>
        </p:spPr>
        <p:txBody>
          <a:bodyPr wrap="square" lIns="119126" tIns="51054" rIns="119126" bIns="51054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Computational Hemodynamics</a:t>
            </a:r>
            <a:endParaRPr lang="en-US" sz="68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617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A4D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Patient-Specific FFR Refinement Through Conditional GAN Architecture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428625" y="1474459"/>
            <a:ext cx="257175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E74C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Challenge</a:t>
            </a:r>
            <a:endParaRPr lang="en-US" sz="1090" dirty="0"/>
          </a:p>
        </p:txBody>
      </p:sp>
      <p:sp>
        <p:nvSpPr>
          <p:cNvPr id="5" name="Text 2"/>
          <p:cNvSpPr/>
          <p:nvPr/>
        </p:nvSpPr>
        <p:spPr>
          <a:xfrm>
            <a:off x="428625" y="1824503"/>
            <a:ext cx="2571750" cy="1530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4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Current baseline CNN models for FFR estimation provide anatomical insights from coronary imaging but </a:t>
            </a:r>
            <a:r>
              <a:rPr lang="en-US" sz="885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lack integration of patient-specific clinical and demographic factors</a:t>
            </a:r>
            <a:r>
              <a:rPr lang="en-US" sz="94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that significantly influence coronary hemodynamics.</a:t>
            </a:r>
            <a:endParaRPr lang="en-US" sz="942" dirty="0"/>
          </a:p>
        </p:txBody>
      </p:sp>
      <p:sp>
        <p:nvSpPr>
          <p:cNvPr id="6" name="Shape 3"/>
          <p:cNvSpPr/>
          <p:nvPr/>
        </p:nvSpPr>
        <p:spPr>
          <a:xfrm>
            <a:off x="428625" y="3497452"/>
            <a:ext cx="2571750" cy="811513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28625" y="3497452"/>
            <a:ext cx="28575" cy="811513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71500" y="3611752"/>
            <a:ext cx="2286000" cy="58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784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Models do not account for inter-patient variability and multicentric data heterogeneity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3286125" y="1474459"/>
            <a:ext cx="257175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E74C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Research Context</a:t>
            </a:r>
            <a:endParaRPr lang="en-US" sz="1090" dirty="0"/>
          </a:p>
        </p:txBody>
      </p:sp>
      <p:sp>
        <p:nvSpPr>
          <p:cNvPr id="10" name="Text 7"/>
          <p:cNvSpPr/>
          <p:nvPr/>
        </p:nvSpPr>
        <p:spPr>
          <a:xfrm>
            <a:off x="3429000" y="1824503"/>
            <a:ext cx="2428875" cy="4128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34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Consortium:</a:t>
            </a:r>
            <a:r>
              <a:rPr lang="en-US" sz="888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DFM-EUROPE × ELCS RESEARCH scientific initiative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3429000" y="2337402"/>
            <a:ext cx="2428875" cy="619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34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Integration:</a:t>
            </a:r>
            <a:r>
              <a:rPr lang="en-US" sz="888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Computational fluid dynamics, deep learning, and clinical data fusion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3429000" y="3056744"/>
            <a:ext cx="2428875" cy="4128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34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Focus:</a:t>
            </a:r>
            <a:r>
              <a:rPr lang="en-US" sz="888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Non-invasive physiological assessment of coronary artery disease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3429000" y="3569643"/>
            <a:ext cx="2428875" cy="4128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34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Gap:</a:t>
            </a:r>
            <a:r>
              <a:rPr lang="en-US" sz="888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Age, sex, comorbidities, and site variability not modeled</a:t>
            </a:r>
            <a:endParaRPr lang="en-US" sz="834" dirty="0"/>
          </a:p>
        </p:txBody>
      </p:sp>
      <p:sp>
        <p:nvSpPr>
          <p:cNvPr id="14" name="Text 11"/>
          <p:cNvSpPr/>
          <p:nvPr/>
        </p:nvSpPr>
        <p:spPr>
          <a:xfrm>
            <a:off x="6143625" y="1474459"/>
            <a:ext cx="257175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E74C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Why Conditional GAN?</a:t>
            </a:r>
            <a:endParaRPr lang="en-US" sz="1090" dirty="0"/>
          </a:p>
        </p:txBody>
      </p:sp>
      <p:sp>
        <p:nvSpPr>
          <p:cNvPr id="15" name="Text 12"/>
          <p:cNvSpPr/>
          <p:nvPr/>
        </p:nvSpPr>
        <p:spPr>
          <a:xfrm>
            <a:off x="6143625" y="1824503"/>
            <a:ext cx="2571750" cy="1092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4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GANs enable the generation of </a:t>
            </a:r>
            <a:r>
              <a:rPr lang="en-US" sz="885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physiologically plausible FFR adjustments</a:t>
            </a:r>
            <a:r>
              <a:rPr lang="en-US" sz="94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by learning complex, non-linear relationships between clinical variables and hemodynamic outcomes.</a:t>
            </a:r>
            <a:endParaRPr lang="en-US" sz="942" dirty="0"/>
          </a:p>
        </p:txBody>
      </p:sp>
      <p:sp>
        <p:nvSpPr>
          <p:cNvPr id="16" name="Shape 13"/>
          <p:cNvSpPr/>
          <p:nvPr/>
        </p:nvSpPr>
        <p:spPr>
          <a:xfrm>
            <a:off x="6143625" y="3060288"/>
            <a:ext cx="2571750" cy="811513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143625" y="3060288"/>
            <a:ext cx="28575" cy="81151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286500" y="3174588"/>
            <a:ext cx="2286000" cy="58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784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Maintains consistency with the underlying physics of coronary blood flow while personalizing predictions</a:t>
            </a:r>
            <a:endParaRPr lang="en-US" sz="78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4078" y="-401226"/>
            <a:ext cx="9144000" cy="641436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16768"/>
            <a:ext cx="8286750" cy="617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A4D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Conditional GAN Architecture: Generator and Discriminator Components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428625" y="829098"/>
            <a:ext cx="480629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E74C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Generator (G)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450112" y="1415808"/>
            <a:ext cx="480629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Input:</a:t>
            </a:r>
            <a:endParaRPr lang="en-US" sz="784" dirty="0"/>
          </a:p>
        </p:txBody>
      </p:sp>
      <p:sp>
        <p:nvSpPr>
          <p:cNvPr id="6" name="Text 3"/>
          <p:cNvSpPr/>
          <p:nvPr/>
        </p:nvSpPr>
        <p:spPr>
          <a:xfrm>
            <a:off x="428625" y="1592444"/>
            <a:ext cx="480629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FFR-CNN baseline prediction + conditioning vector</a:t>
            </a:r>
            <a:endParaRPr lang="en-US" sz="888" dirty="0"/>
          </a:p>
        </p:txBody>
      </p:sp>
      <p:sp>
        <p:nvSpPr>
          <p:cNvPr id="7" name="Text 4"/>
          <p:cNvSpPr/>
          <p:nvPr/>
        </p:nvSpPr>
        <p:spPr>
          <a:xfrm>
            <a:off x="428624" y="1779796"/>
            <a:ext cx="480629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Conditioning Variables: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428625" y="2306706"/>
            <a:ext cx="65" cy="1611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428625" y="1942417"/>
            <a:ext cx="12255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Demographic: age, sex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428625" y="2521018"/>
            <a:ext cx="65" cy="1611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428690" y="2132982"/>
            <a:ext cx="345860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Clinical comorbidities: diabetes, hypertension, obesity, prior CVD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428625" y="2735331"/>
            <a:ext cx="65" cy="1611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428624" y="2356057"/>
            <a:ext cx="203535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 origin: multicentric site identifier</a:t>
            </a:r>
            <a:endParaRPr lang="en-US" sz="834" dirty="0"/>
          </a:p>
        </p:txBody>
      </p:sp>
      <p:sp>
        <p:nvSpPr>
          <p:cNvPr id="14" name="Text 11"/>
          <p:cNvSpPr/>
          <p:nvPr/>
        </p:nvSpPr>
        <p:spPr>
          <a:xfrm>
            <a:off x="428623" y="2524590"/>
            <a:ext cx="480629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Output: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428625" y="2717355"/>
            <a:ext cx="480629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Adjusted FFR value (patient-specific refinement)</a:t>
            </a:r>
            <a:endParaRPr lang="en-US" sz="888" dirty="0"/>
          </a:p>
        </p:txBody>
      </p:sp>
      <p:sp>
        <p:nvSpPr>
          <p:cNvPr id="16" name="Text 13"/>
          <p:cNvSpPr/>
          <p:nvPr/>
        </p:nvSpPr>
        <p:spPr>
          <a:xfrm>
            <a:off x="428622" y="2904515"/>
            <a:ext cx="480629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Architecture: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450112" y="3075181"/>
            <a:ext cx="4806293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Uses fully connected (dense) layers with residual connections to stabilize learning and preserve input information while refining outputs.</a:t>
            </a:r>
            <a:endParaRPr lang="en-US" sz="888" dirty="0"/>
          </a:p>
        </p:txBody>
      </p:sp>
      <p:sp>
        <p:nvSpPr>
          <p:cNvPr id="18" name="Text 15"/>
          <p:cNvSpPr/>
          <p:nvPr/>
        </p:nvSpPr>
        <p:spPr>
          <a:xfrm>
            <a:off x="417542" y="3447822"/>
            <a:ext cx="149471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Discriminator (D)</a:t>
            </a:r>
            <a:endParaRPr lang="en-US" sz="1193" dirty="0"/>
          </a:p>
        </p:txBody>
      </p:sp>
      <p:sp>
        <p:nvSpPr>
          <p:cNvPr id="19" name="Text 16"/>
          <p:cNvSpPr/>
          <p:nvPr/>
        </p:nvSpPr>
        <p:spPr>
          <a:xfrm>
            <a:off x="428690" y="4022762"/>
            <a:ext cx="480629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Input:</a:t>
            </a:r>
            <a:endParaRPr lang="en-US" sz="784" dirty="0"/>
          </a:p>
        </p:txBody>
      </p:sp>
      <p:sp>
        <p:nvSpPr>
          <p:cNvPr id="20" name="Text 17"/>
          <p:cNvSpPr/>
          <p:nvPr/>
        </p:nvSpPr>
        <p:spPr>
          <a:xfrm>
            <a:off x="417542" y="4194930"/>
            <a:ext cx="480629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Adjusted FFR + conditioning vector OR Ground truth FFR + conditioning vector</a:t>
            </a:r>
            <a:endParaRPr lang="en-US" sz="888" dirty="0"/>
          </a:p>
        </p:txBody>
      </p:sp>
      <p:sp>
        <p:nvSpPr>
          <p:cNvPr id="21" name="Text 18"/>
          <p:cNvSpPr/>
          <p:nvPr/>
        </p:nvSpPr>
        <p:spPr>
          <a:xfrm>
            <a:off x="417542" y="4369924"/>
            <a:ext cx="480629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Task:</a:t>
            </a:r>
            <a:endParaRPr lang="en-US" sz="784" dirty="0"/>
          </a:p>
        </p:txBody>
      </p:sp>
      <p:sp>
        <p:nvSpPr>
          <p:cNvPr id="22" name="Text 19"/>
          <p:cNvSpPr/>
          <p:nvPr/>
        </p:nvSpPr>
        <p:spPr>
          <a:xfrm>
            <a:off x="417541" y="4541374"/>
            <a:ext cx="480629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Distinguish between generator-produced FFR and reference FFR measurements</a:t>
            </a:r>
            <a:endParaRPr lang="en-US" sz="888" dirty="0"/>
          </a:p>
        </p:txBody>
      </p:sp>
      <p:sp>
        <p:nvSpPr>
          <p:cNvPr id="23" name="Text 20"/>
          <p:cNvSpPr/>
          <p:nvPr/>
        </p:nvSpPr>
        <p:spPr>
          <a:xfrm>
            <a:off x="417540" y="4738234"/>
            <a:ext cx="480629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Architecture:</a:t>
            </a:r>
            <a:endParaRPr lang="en-US" sz="784" dirty="0"/>
          </a:p>
        </p:txBody>
      </p:sp>
      <p:sp>
        <p:nvSpPr>
          <p:cNvPr id="24" name="Text 21"/>
          <p:cNvSpPr/>
          <p:nvPr/>
        </p:nvSpPr>
        <p:spPr>
          <a:xfrm>
            <a:off x="417539" y="4894990"/>
            <a:ext cx="480629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Deep feedforward network with dropout for regularization to prevent overfitting</a:t>
            </a:r>
            <a:endParaRPr lang="en-US" sz="888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6441" y="1493490"/>
            <a:ext cx="3314700" cy="24051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005330A-88E3-070C-7EB7-FC2EF5170F2B}"/>
              </a:ext>
            </a:extLst>
          </p:cNvPr>
          <p:cNvSpPr txBox="1"/>
          <p:nvPr/>
        </p:nvSpPr>
        <p:spPr>
          <a:xfrm>
            <a:off x="345835" y="1115089"/>
            <a:ext cx="42639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rgbClr val="2C3E5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Goal:</a:t>
            </a:r>
            <a:r>
              <a:rPr lang="en-US" sz="800" dirty="0">
                <a:solidFill>
                  <a:srgbClr val="2C3E5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Creates refined, patient-specific FFR values by adjusting the baseline CNN predictions using clinical and demographic data.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713169D-AE45-4358-06B1-60909A1C262D}"/>
              </a:ext>
            </a:extLst>
          </p:cNvPr>
          <p:cNvSpPr txBox="1"/>
          <p:nvPr/>
        </p:nvSpPr>
        <p:spPr>
          <a:xfrm>
            <a:off x="345835" y="3668642"/>
            <a:ext cx="45364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rgbClr val="2C3E50"/>
                </a:solidFill>
              </a:rPr>
              <a:t>Goal:</a:t>
            </a:r>
            <a:r>
              <a:rPr lang="en-US" sz="800" dirty="0">
                <a:solidFill>
                  <a:srgbClr val="2C3E50"/>
                </a:solidFill>
              </a:rPr>
              <a:t> Evaluates whether an FFR value (real or generated) is physiologically realistic for the given patient profile.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67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A4D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Training Strategy and Implementation Details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428625" y="915823"/>
            <a:ext cx="25717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4D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1. Loss Function</a:t>
            </a:r>
            <a:endParaRPr lang="en-US" sz="987" dirty="0"/>
          </a:p>
        </p:txBody>
      </p:sp>
      <p:sp>
        <p:nvSpPr>
          <p:cNvPr id="5" name="Text 2"/>
          <p:cNvSpPr/>
          <p:nvPr/>
        </p:nvSpPr>
        <p:spPr>
          <a:xfrm>
            <a:off x="428625" y="1201573"/>
            <a:ext cx="2571750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Multi-component objective combining:</a:t>
            </a:r>
            <a:endParaRPr lang="en-US" sz="888" dirty="0"/>
          </a:p>
        </p:txBody>
      </p:sp>
      <p:sp>
        <p:nvSpPr>
          <p:cNvPr id="6" name="Text 3"/>
          <p:cNvSpPr/>
          <p:nvPr/>
        </p:nvSpPr>
        <p:spPr>
          <a:xfrm>
            <a:off x="428625" y="1455176"/>
            <a:ext cx="4297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542925" y="1462320"/>
            <a:ext cx="9337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Adversarial loss: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527200" y="1602515"/>
            <a:ext cx="2374599" cy="498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Enables realistic FFR generation through generator-discriminator competition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428625" y="2012389"/>
            <a:ext cx="4297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542925" y="2019533"/>
            <a:ext cx="128542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L1 reconstruction loss: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550473" y="2183839"/>
            <a:ext cx="2381017" cy="32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Maintains proximity to baseline FFR-CNN predictions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428625" y="2398151"/>
            <a:ext cx="4297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542925" y="2495892"/>
            <a:ext cx="165026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Physiological constraint loss: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544724" y="2651755"/>
            <a:ext cx="2280307" cy="498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Enforces domain-informed boundaries (FFR ∈ [0,1], hemodynamic plausibility)</a:t>
            </a:r>
            <a:endParaRPr lang="en-US" sz="834" dirty="0"/>
          </a:p>
        </p:txBody>
      </p:sp>
      <p:sp>
        <p:nvSpPr>
          <p:cNvPr id="15" name="Text 12"/>
          <p:cNvSpPr/>
          <p:nvPr/>
        </p:nvSpPr>
        <p:spPr>
          <a:xfrm>
            <a:off x="3286125" y="915823"/>
            <a:ext cx="25717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4D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2. Data</a:t>
            </a:r>
            <a:endParaRPr lang="en-US" sz="987" dirty="0"/>
          </a:p>
        </p:txBody>
      </p:sp>
      <p:sp>
        <p:nvSpPr>
          <p:cNvPr id="16" name="Text 13"/>
          <p:cNvSpPr/>
          <p:nvPr/>
        </p:nvSpPr>
        <p:spPr>
          <a:xfrm>
            <a:off x="3286125" y="1201573"/>
            <a:ext cx="2571750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Multicentric coronary imaging datasets with invasive FFR as ground truth</a:t>
            </a:r>
            <a:endParaRPr lang="en-US" sz="888" dirty="0"/>
          </a:p>
        </p:txBody>
      </p:sp>
      <p:sp>
        <p:nvSpPr>
          <p:cNvPr id="17" name="Text 14"/>
          <p:cNvSpPr/>
          <p:nvPr/>
        </p:nvSpPr>
        <p:spPr>
          <a:xfrm>
            <a:off x="3286125" y="1637342"/>
            <a:ext cx="25717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4D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 Split Strategy:</a:t>
            </a:r>
            <a:endParaRPr lang="en-US" sz="784" dirty="0"/>
          </a:p>
        </p:txBody>
      </p:sp>
      <p:sp>
        <p:nvSpPr>
          <p:cNvPr id="18" name="Text 15"/>
          <p:cNvSpPr/>
          <p:nvPr/>
        </p:nvSpPr>
        <p:spPr>
          <a:xfrm>
            <a:off x="3286125" y="1851654"/>
            <a:ext cx="4297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3400425" y="1858798"/>
            <a:ext cx="86651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70% training set</a:t>
            </a:r>
            <a:endParaRPr lang="en-US" sz="834" dirty="0"/>
          </a:p>
        </p:txBody>
      </p:sp>
      <p:sp>
        <p:nvSpPr>
          <p:cNvPr id="20" name="Text 17"/>
          <p:cNvSpPr/>
          <p:nvPr/>
        </p:nvSpPr>
        <p:spPr>
          <a:xfrm>
            <a:off x="3286125" y="2065967"/>
            <a:ext cx="4297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784" dirty="0"/>
          </a:p>
        </p:txBody>
      </p:sp>
      <p:sp>
        <p:nvSpPr>
          <p:cNvPr id="21" name="Text 18"/>
          <p:cNvSpPr/>
          <p:nvPr/>
        </p:nvSpPr>
        <p:spPr>
          <a:xfrm>
            <a:off x="3400425" y="2073111"/>
            <a:ext cx="97180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15% validation set</a:t>
            </a:r>
            <a:endParaRPr lang="en-US" sz="834" dirty="0"/>
          </a:p>
        </p:txBody>
      </p:sp>
      <p:sp>
        <p:nvSpPr>
          <p:cNvPr id="22" name="Text 19"/>
          <p:cNvSpPr/>
          <p:nvPr/>
        </p:nvSpPr>
        <p:spPr>
          <a:xfrm>
            <a:off x="3286125" y="2280279"/>
            <a:ext cx="4297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784" dirty="0"/>
          </a:p>
        </p:txBody>
      </p:sp>
      <p:sp>
        <p:nvSpPr>
          <p:cNvPr id="23" name="Text 20"/>
          <p:cNvSpPr/>
          <p:nvPr/>
        </p:nvSpPr>
        <p:spPr>
          <a:xfrm>
            <a:off x="3400425" y="2287423"/>
            <a:ext cx="64740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15% test set</a:t>
            </a:r>
            <a:endParaRPr lang="en-US" sz="834" dirty="0"/>
          </a:p>
        </p:txBody>
      </p:sp>
      <p:sp>
        <p:nvSpPr>
          <p:cNvPr id="24" name="Text 21"/>
          <p:cNvSpPr/>
          <p:nvPr/>
        </p:nvSpPr>
        <p:spPr>
          <a:xfrm>
            <a:off x="3286125" y="2516023"/>
            <a:ext cx="1949630" cy="32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i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Stratified by center to ensure balanced representation</a:t>
            </a:r>
            <a:endParaRPr lang="en-US" sz="834" dirty="0"/>
          </a:p>
        </p:txBody>
      </p:sp>
      <p:sp>
        <p:nvSpPr>
          <p:cNvPr id="25" name="Text 22"/>
          <p:cNvSpPr/>
          <p:nvPr/>
        </p:nvSpPr>
        <p:spPr>
          <a:xfrm>
            <a:off x="6143625" y="915823"/>
            <a:ext cx="25717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4D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3. Validation</a:t>
            </a:r>
            <a:endParaRPr lang="en-US" sz="987" dirty="0"/>
          </a:p>
        </p:txBody>
      </p:sp>
      <p:sp>
        <p:nvSpPr>
          <p:cNvPr id="26" name="Text 23"/>
          <p:cNvSpPr/>
          <p:nvPr/>
        </p:nvSpPr>
        <p:spPr>
          <a:xfrm>
            <a:off x="6143625" y="1201573"/>
            <a:ext cx="2571750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Cross-center validation approach to assess model generalizability</a:t>
            </a:r>
            <a:endParaRPr lang="en-US" sz="888" dirty="0"/>
          </a:p>
        </p:txBody>
      </p:sp>
      <p:sp>
        <p:nvSpPr>
          <p:cNvPr id="27" name="Text 24"/>
          <p:cNvSpPr/>
          <p:nvPr/>
        </p:nvSpPr>
        <p:spPr>
          <a:xfrm>
            <a:off x="6143625" y="1637342"/>
            <a:ext cx="4297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784" dirty="0"/>
          </a:p>
        </p:txBody>
      </p:sp>
      <p:sp>
        <p:nvSpPr>
          <p:cNvPr id="28" name="Text 25"/>
          <p:cNvSpPr/>
          <p:nvPr/>
        </p:nvSpPr>
        <p:spPr>
          <a:xfrm>
            <a:off x="6257925" y="1644486"/>
            <a:ext cx="2182332" cy="32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Test on held-out clinical centers not seen during training</a:t>
            </a:r>
            <a:endParaRPr lang="en-US" sz="834" dirty="0"/>
          </a:p>
        </p:txBody>
      </p:sp>
      <p:sp>
        <p:nvSpPr>
          <p:cNvPr id="29" name="Text 26"/>
          <p:cNvSpPr/>
          <p:nvPr/>
        </p:nvSpPr>
        <p:spPr>
          <a:xfrm>
            <a:off x="6143625" y="2023104"/>
            <a:ext cx="4297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784" dirty="0"/>
          </a:p>
        </p:txBody>
      </p:sp>
      <p:sp>
        <p:nvSpPr>
          <p:cNvPr id="30" name="Text 27"/>
          <p:cNvSpPr/>
          <p:nvPr/>
        </p:nvSpPr>
        <p:spPr>
          <a:xfrm>
            <a:off x="6257925" y="2030248"/>
            <a:ext cx="2050200" cy="32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Evaluate performance across different patient populations</a:t>
            </a:r>
            <a:endParaRPr lang="en-US" sz="834" dirty="0"/>
          </a:p>
        </p:txBody>
      </p:sp>
      <p:sp>
        <p:nvSpPr>
          <p:cNvPr id="31" name="Text 28"/>
          <p:cNvSpPr/>
          <p:nvPr/>
        </p:nvSpPr>
        <p:spPr>
          <a:xfrm>
            <a:off x="6143625" y="2408867"/>
            <a:ext cx="4297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784" dirty="0"/>
          </a:p>
        </p:txBody>
      </p:sp>
      <p:sp>
        <p:nvSpPr>
          <p:cNvPr id="32" name="Text 29"/>
          <p:cNvSpPr/>
          <p:nvPr/>
        </p:nvSpPr>
        <p:spPr>
          <a:xfrm>
            <a:off x="6257925" y="2416011"/>
            <a:ext cx="2417350" cy="32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Assess robustness to inter-site variability and imaging protocols</a:t>
            </a:r>
            <a:endParaRPr lang="en-US" sz="834" dirty="0"/>
          </a:p>
        </p:txBody>
      </p:sp>
      <p:sp>
        <p:nvSpPr>
          <p:cNvPr id="33" name="Shape 30"/>
          <p:cNvSpPr/>
          <p:nvPr/>
        </p:nvSpPr>
        <p:spPr>
          <a:xfrm>
            <a:off x="428625" y="3098239"/>
            <a:ext cx="8286750" cy="960834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428625" y="3098239"/>
            <a:ext cx="8286750" cy="28575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642938" y="3298264"/>
            <a:ext cx="378618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E74C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Framework Implementation</a:t>
            </a:r>
            <a:endParaRPr lang="en-US" sz="834" dirty="0"/>
          </a:p>
        </p:txBody>
      </p:sp>
      <p:sp>
        <p:nvSpPr>
          <p:cNvPr id="36" name="Text 33"/>
          <p:cNvSpPr/>
          <p:nvPr/>
        </p:nvSpPr>
        <p:spPr>
          <a:xfrm>
            <a:off x="642938" y="3523292"/>
            <a:ext cx="3786188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PyTorch or TensorFlow for conditional GAN architecture with iterative generator-discriminator optimization</a:t>
            </a:r>
            <a:endParaRPr lang="en-US" sz="888" dirty="0"/>
          </a:p>
        </p:txBody>
      </p:sp>
      <p:sp>
        <p:nvSpPr>
          <p:cNvPr id="37" name="Text 34"/>
          <p:cNvSpPr/>
          <p:nvPr/>
        </p:nvSpPr>
        <p:spPr>
          <a:xfrm>
            <a:off x="4714875" y="3298264"/>
            <a:ext cx="378618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E74C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Hyperparameter Tuning</a:t>
            </a:r>
            <a:endParaRPr lang="en-US" sz="834" dirty="0"/>
          </a:p>
        </p:txBody>
      </p:sp>
      <p:sp>
        <p:nvSpPr>
          <p:cNvPr id="38" name="Text 35"/>
          <p:cNvSpPr/>
          <p:nvPr/>
        </p:nvSpPr>
        <p:spPr>
          <a:xfrm>
            <a:off x="4714875" y="3523292"/>
            <a:ext cx="3786188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Learning rate, batch size, loss function weights, and network depth optimized through systematic grid search</a:t>
            </a:r>
            <a:endParaRPr lang="en-US" sz="888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A4D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Enhanced Physiological Plausibility and Precision Cardiology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428625" y="1165854"/>
            <a:ext cx="115639" cy="1040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E74C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397" dirty="0"/>
          </a:p>
        </p:txBody>
      </p:sp>
      <p:sp>
        <p:nvSpPr>
          <p:cNvPr id="5" name="Text 2"/>
          <p:cNvSpPr/>
          <p:nvPr/>
        </p:nvSpPr>
        <p:spPr>
          <a:xfrm>
            <a:off x="629989" y="1165854"/>
            <a:ext cx="471959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4D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Patient-Specific FFR Adjustment Model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744289" y="1451604"/>
            <a:ext cx="3660446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8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Refined FFR predictions accounting for individual clinical profiles</a:t>
            </a:r>
            <a:endParaRPr lang="en-US" sz="888" dirty="0"/>
          </a:p>
        </p:txBody>
      </p:sp>
      <p:sp>
        <p:nvSpPr>
          <p:cNvPr id="7" name="Text 4"/>
          <p:cNvSpPr/>
          <p:nvPr/>
        </p:nvSpPr>
        <p:spPr>
          <a:xfrm>
            <a:off x="744289" y="1703059"/>
            <a:ext cx="4412438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8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Quantified contribution of each conditioning variable (age, sex, diabetes, etc.)</a:t>
            </a:r>
            <a:endParaRPr lang="en-US" sz="888" dirty="0"/>
          </a:p>
        </p:txBody>
      </p:sp>
      <p:sp>
        <p:nvSpPr>
          <p:cNvPr id="8" name="Text 5"/>
          <p:cNvSpPr/>
          <p:nvPr/>
        </p:nvSpPr>
        <p:spPr>
          <a:xfrm>
            <a:off x="744289" y="1954513"/>
            <a:ext cx="4605291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8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Improved alignment with invasive FFR measurements across diverse populations</a:t>
            </a:r>
            <a:endParaRPr lang="en-US" sz="888" dirty="0"/>
          </a:p>
        </p:txBody>
      </p:sp>
      <p:sp>
        <p:nvSpPr>
          <p:cNvPr id="9" name="Text 6"/>
          <p:cNvSpPr/>
          <p:nvPr/>
        </p:nvSpPr>
        <p:spPr>
          <a:xfrm>
            <a:off x="428625" y="2405993"/>
            <a:ext cx="115639" cy="1040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E74C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397" dirty="0"/>
          </a:p>
        </p:txBody>
      </p:sp>
      <p:sp>
        <p:nvSpPr>
          <p:cNvPr id="10" name="Text 7"/>
          <p:cNvSpPr/>
          <p:nvPr/>
        </p:nvSpPr>
        <p:spPr>
          <a:xfrm>
            <a:off x="629989" y="2405993"/>
            <a:ext cx="443685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4D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Multicentric Variability Analysis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744289" y="2691743"/>
            <a:ext cx="4194191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8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Identification and quantification of inter-site differences in FFR estimation</a:t>
            </a:r>
            <a:endParaRPr lang="en-US" sz="888" dirty="0"/>
          </a:p>
        </p:txBody>
      </p:sp>
      <p:sp>
        <p:nvSpPr>
          <p:cNvPr id="12" name="Text 9"/>
          <p:cNvSpPr/>
          <p:nvPr/>
        </p:nvSpPr>
        <p:spPr>
          <a:xfrm>
            <a:off x="744289" y="2943197"/>
            <a:ext cx="3483276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8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 harmonization framework to reduce center-specific bias</a:t>
            </a:r>
            <a:endParaRPr lang="en-US" sz="888" dirty="0"/>
          </a:p>
        </p:txBody>
      </p:sp>
      <p:sp>
        <p:nvSpPr>
          <p:cNvPr id="13" name="Text 10"/>
          <p:cNvSpPr/>
          <p:nvPr/>
        </p:nvSpPr>
        <p:spPr>
          <a:xfrm>
            <a:off x="744289" y="3194652"/>
            <a:ext cx="4322555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8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Enhanced model robustness for deployment across different clinical centers</a:t>
            </a:r>
            <a:endParaRPr lang="en-US" sz="888" dirty="0"/>
          </a:p>
        </p:txBody>
      </p:sp>
      <p:sp>
        <p:nvSpPr>
          <p:cNvPr id="14" name="Text 11"/>
          <p:cNvSpPr/>
          <p:nvPr/>
        </p:nvSpPr>
        <p:spPr>
          <a:xfrm>
            <a:off x="428625" y="3646131"/>
            <a:ext cx="115639" cy="1040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E74C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397" dirty="0"/>
          </a:p>
        </p:txBody>
      </p:sp>
      <p:sp>
        <p:nvSpPr>
          <p:cNvPr id="15" name="Text 12"/>
          <p:cNvSpPr/>
          <p:nvPr/>
        </p:nvSpPr>
        <p:spPr>
          <a:xfrm>
            <a:off x="629989" y="3646131"/>
            <a:ext cx="505063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4D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Reproducible AI Framework</a:t>
            </a:r>
            <a:endParaRPr lang="en-US" sz="987" dirty="0"/>
          </a:p>
        </p:txBody>
      </p:sp>
      <p:sp>
        <p:nvSpPr>
          <p:cNvPr id="16" name="Text 13"/>
          <p:cNvSpPr/>
          <p:nvPr/>
        </p:nvSpPr>
        <p:spPr>
          <a:xfrm>
            <a:off x="744289" y="3931881"/>
            <a:ext cx="4936331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8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Open-source implementation integrating data-driven learning with domain knowledge</a:t>
            </a:r>
            <a:endParaRPr lang="en-US" sz="888" dirty="0"/>
          </a:p>
        </p:txBody>
      </p:sp>
      <p:sp>
        <p:nvSpPr>
          <p:cNvPr id="17" name="Text 14"/>
          <p:cNvSpPr/>
          <p:nvPr/>
        </p:nvSpPr>
        <p:spPr>
          <a:xfrm>
            <a:off x="744289" y="4183335"/>
            <a:ext cx="4229184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8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Modular architecture allowing incorporation of additional clinical variables</a:t>
            </a:r>
            <a:endParaRPr lang="en-US" sz="888" dirty="0"/>
          </a:p>
        </p:txBody>
      </p:sp>
      <p:sp>
        <p:nvSpPr>
          <p:cNvPr id="18" name="Text 15"/>
          <p:cNvSpPr/>
          <p:nvPr/>
        </p:nvSpPr>
        <p:spPr>
          <a:xfrm>
            <a:off x="744289" y="4434790"/>
            <a:ext cx="4354869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8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Contribution to consortium's broader AI-based precision cardiology initiative</a:t>
            </a:r>
            <a:endParaRPr lang="en-US" sz="888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0763" y="1165854"/>
            <a:ext cx="2900363" cy="1257523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6100763" y="2881833"/>
            <a:ext cx="2900363" cy="1804411"/>
          </a:xfrm>
          <a:prstGeom prst="rect">
            <a:avLst/>
          </a:prstGeom>
          <a:solidFill>
            <a:srgbClr val="F0F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6100763" y="2881833"/>
            <a:ext cx="35719" cy="1804411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6243638" y="3024708"/>
            <a:ext cx="261461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4D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Clinical Relevance</a:t>
            </a:r>
            <a:endParaRPr lang="en-US" sz="885" dirty="0"/>
          </a:p>
        </p:txBody>
      </p:sp>
      <p:sp>
        <p:nvSpPr>
          <p:cNvPr id="23" name="Text 19"/>
          <p:cNvSpPr/>
          <p:nvPr/>
        </p:nvSpPr>
        <p:spPr>
          <a:xfrm>
            <a:off x="6243638" y="3303315"/>
            <a:ext cx="2614613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E74C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</a:t>
            </a:r>
            <a:r>
              <a:rPr lang="en-US" sz="834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More reliable non-invasive FFR estimation reducing unnecessary invasive catheterization</a:t>
            </a:r>
            <a:endParaRPr lang="en-US" sz="784" dirty="0"/>
          </a:p>
        </p:txBody>
      </p:sp>
      <p:sp>
        <p:nvSpPr>
          <p:cNvPr id="24" name="Text 20"/>
          <p:cNvSpPr/>
          <p:nvPr/>
        </p:nvSpPr>
        <p:spPr>
          <a:xfrm>
            <a:off x="6243638" y="3740479"/>
            <a:ext cx="2614613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E74C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</a:t>
            </a:r>
            <a:r>
              <a:rPr lang="en-US" sz="834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Personalized risk stratification for coronary artery disease management</a:t>
            </a:r>
            <a:endParaRPr lang="en-US" sz="784" dirty="0"/>
          </a:p>
        </p:txBody>
      </p:sp>
      <p:sp>
        <p:nvSpPr>
          <p:cNvPr id="25" name="Text 21"/>
          <p:cNvSpPr/>
          <p:nvPr/>
        </p:nvSpPr>
        <p:spPr>
          <a:xfrm>
            <a:off x="6243638" y="4177643"/>
            <a:ext cx="2614613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E74C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</a:t>
            </a:r>
            <a:r>
              <a:rPr lang="en-US" sz="834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Foundation for future AI-driven hemodynamic assessment tools</a:t>
            </a:r>
            <a:endParaRPr lang="en-US" sz="78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637</Words>
  <Application>Microsoft Office PowerPoint</Application>
  <PresentationFormat>On-screen Show (16:9)</PresentationFormat>
  <Paragraphs>102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Noto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Ramah Almazroui</cp:lastModifiedBy>
  <cp:revision>2</cp:revision>
  <dcterms:created xsi:type="dcterms:W3CDTF">2025-11-01T03:36:01Z</dcterms:created>
  <dcterms:modified xsi:type="dcterms:W3CDTF">2025-11-03T06:11:24Z</dcterms:modified>
</cp:coreProperties>
</file>