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476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89520" y="-457200"/>
            <a:ext cx="2011680" cy="201168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3774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DISSERTATION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FFR Physiological</a:t>
            </a:r>
            <a:endParaRPr lang="en-US" sz="4400" dirty="0"/>
          </a:p>
          <a:p>
            <a:pPr marL="0" indent="0">
              <a:buNone/>
            </a:pPr>
            <a:r>
              <a:rPr lang="en-US" sz="4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Plausibility Scoring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Conditional GAN to detect out-of-distribution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samples from biased stenosis definitions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CFD · TensorFlow · Keras · Python · cGAN · OOD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</a:rPr>
              <a:t>PROBLEM &amp; OBJECTIVE  </a:t>
            </a:r>
            <a:r>
              <a:rPr lang="en-US" sz="2200" b="1" dirty="0">
                <a:solidFill>
                  <a:srgbClr val="FFFFFF"/>
                </a:solidFill>
              </a:rPr>
              <a:t>Background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0233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CFD datasets exist for coronary artery stenosis simulation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dataset uses diameter-based severity — physiologically correct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dataset uses area-based severity — produces inconsistent FFR values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Area-based severity systematically underestimates obstruction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FFR values cluster unnaturally high (mean 0.93 vs 0.73)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0233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Objective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572768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distribution of physiologically plausible FFR values from reference data only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trained discriminator to score any new sample's physiological plausibility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whether biased samples are out-of-distribution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plausibility score ∈ [0, 1] per sample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supervised learning on the biased dataset — evaluation only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</a:rPr>
              <a:t>DATA  </a:t>
            </a:r>
            <a:r>
              <a:rPr lang="en-US" sz="2200" b="1" dirty="0">
                <a:solidFill>
                  <a:srgbClr val="FFFFFF"/>
                </a:solidFill>
              </a:rPr>
              <a:t>Dataset Overview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92024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3327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D9E75"/>
                </a:solidFill>
              </a:rPr>
              <a:t>1,066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6733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Reference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samples (real)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68880" y="960120"/>
            <a:ext cx="1920240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103327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9F27"/>
                </a:solidFill>
              </a:rPr>
              <a:t>1,200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68880" y="16733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Biased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samples (fake)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96012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960120"/>
            <a:ext cx="19202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17720" y="103327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392B"/>
                </a:solidFill>
              </a:rPr>
              <a:t>130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17720" y="16733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Removed CFD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artefacts (FFR&lt;0)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960120"/>
            <a:ext cx="1920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66560" y="960120"/>
            <a:ext cx="19202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103327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8090"/>
                </a:solidFill>
              </a:rPr>
              <a:t>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766560" y="16733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Input features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per sample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331720"/>
            <a:ext cx="4023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331720"/>
            <a:ext cx="4023360" cy="43891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33172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Reference Dataset (Real)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283464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definition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Diameter reduction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FFR range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0.002 – 0.956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FFR mean / std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0.73 / 0.21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Artery length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100 mm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Training only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331720"/>
            <a:ext cx="4023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331720"/>
            <a:ext cx="4023360" cy="43891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233172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Biased Dataset (Fake)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283464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definition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Area reduction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FFR range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0.41 – 0.96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FFR mean / std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0.93 / 0.03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Artery length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120 mm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Evaluation only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</a:rPr>
              <a:t>ARCHITECTURE  </a:t>
            </a:r>
            <a:r>
              <a:rPr lang="en-US" sz="2200" b="1" dirty="0">
                <a:solidFill>
                  <a:srgbClr val="FFFFFF"/>
                </a:solidFill>
              </a:rPr>
              <a:t>cGAN Model Design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023360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Generator  (training only)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3566160" cy="402336"/>
          </a:xfrm>
          <a:prstGeom prst="rect">
            <a:avLst/>
          </a:prstGeom>
          <a:solidFill>
            <a:srgbClr val="47556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Noise (16-dim) + Condition (9 features)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48840" y="1883664"/>
            <a:ext cx="45720" cy="155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039112"/>
            <a:ext cx="3566160" cy="402336"/>
          </a:xfrm>
          <a:prstGeom prst="rect">
            <a:avLst/>
          </a:prstGeom>
          <a:solidFill>
            <a:srgbClr val="E8F5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03911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Dense 128 → LeakyReLU → BatchNorm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48840" y="2441448"/>
            <a:ext cx="45720" cy="155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596896"/>
            <a:ext cx="3566160" cy="402336"/>
          </a:xfrm>
          <a:prstGeom prst="rect">
            <a:avLst/>
          </a:prstGeom>
          <a:solidFill>
            <a:srgbClr val="E8F5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596896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Dense 128 → LeakyReLU → BatchNorm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48840" y="2999232"/>
            <a:ext cx="45720" cy="155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3566160" cy="402336"/>
          </a:xfrm>
          <a:prstGeom prst="rect">
            <a:avLst/>
          </a:prstGeom>
          <a:solidFill>
            <a:srgbClr val="E8F5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15468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Dense 64 → LeakyReLU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48840" y="3557016"/>
            <a:ext cx="45720" cy="155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3712464"/>
            <a:ext cx="3566160" cy="402336"/>
          </a:xfrm>
          <a:prstGeom prst="rect">
            <a:avLst/>
          </a:prstGeom>
          <a:solidFill>
            <a:srgbClr val="334155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71246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Output: Generated FFR ∈ [0,1]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31596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Role: challenges discriminator during training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960120"/>
            <a:ext cx="402336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0600" y="960120"/>
            <a:ext cx="40233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204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Discriminator  (the scorer)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0" y="1481328"/>
            <a:ext cx="356616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148132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FFR (1) + Condition (9 features) = 10 inputs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29400" y="1883664"/>
            <a:ext cx="45720" cy="1554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029200" y="2039112"/>
            <a:ext cx="3566160" cy="402336"/>
          </a:xfrm>
          <a:prstGeom prst="rect">
            <a:avLst/>
          </a:prstGeom>
          <a:solidFill>
            <a:srgbClr val="E8F5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0" y="203911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Dense 256 → LeakyReLU → Dropout 30%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2441448"/>
            <a:ext cx="45720" cy="1554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029200" y="2596896"/>
            <a:ext cx="3566160" cy="402336"/>
          </a:xfrm>
          <a:prstGeom prst="rect">
            <a:avLst/>
          </a:prstGeom>
          <a:solidFill>
            <a:srgbClr val="E8F5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0" y="2596896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Dense 128 → LeakyReLU → Dropout 20%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29400" y="2999232"/>
            <a:ext cx="45720" cy="1554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029200" y="3154680"/>
            <a:ext cx="3566160" cy="402336"/>
          </a:xfrm>
          <a:prstGeom prst="rect">
            <a:avLst/>
          </a:prstGeom>
          <a:solidFill>
            <a:srgbClr val="E8F5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0" y="315468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Dense 64 → Dense 32 → LeakyReLU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29400" y="3557016"/>
            <a:ext cx="45720" cy="1554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029200" y="3712464"/>
            <a:ext cx="356616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0" y="371246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Output: Plausibility Score ∈ [0,1]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431596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28090"/>
                </a:solidFill>
              </a:rPr>
              <a:t>Role: the final plausibility scorer used for evaluation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</a:rPr>
              <a:t>METHOD  </a:t>
            </a:r>
            <a:r>
              <a:rPr lang="en-US" sz="2200" b="1" dirty="0">
                <a:solidFill>
                  <a:srgbClr val="FFFFFF"/>
                </a:solidFill>
              </a:rPr>
              <a:t>Training Strategy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02920" cy="17830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5029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Feature Engineering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435608"/>
            <a:ext cx="3429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3 derived features: expected_ffr, ffr_residual, ffr × severity. These encode the physiological FFR–severity relationship directly, giving the discriminator detectable signal.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502920" cy="1783080"/>
          </a:xfrm>
          <a:prstGeom prst="rect">
            <a:avLst/>
          </a:prstGeom>
          <a:solidFill>
            <a:srgbClr val="016070"/>
          </a:solidFill>
          <a:ln w="12700">
            <a:solidFill>
              <a:srgbClr val="01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960120"/>
            <a:ext cx="5029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349240" y="109728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Unsupervised Warm-up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1435608"/>
            <a:ext cx="3429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epochs using only internal shuffling — no labels, no fake data. Shuffled FFR and shuffled conditions create mismatched pairs as negatives. Anchors D(real)=0.814 before adversarial training.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502920" cy="1783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971800"/>
            <a:ext cx="5029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14400" y="310896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Adversarial Training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447288"/>
            <a:ext cx="3429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epochs. Discriminator trains 2× per generator step. Real score penalty added: penalises discriminator when real scores fall below 0.95. D LR &lt; G LR to prevent collapse.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502920" cy="17830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2971800"/>
            <a:ext cx="5029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349240" y="310896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OOD Evaluation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3447288"/>
            <a:ext cx="3429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 scored on held-out real test set and entire fake dataset. Threshold set at 10th percentile of real test scores. No fake data ever used in training.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8090"/>
                </a:solidFill>
              </a:rPr>
              <a:t>RESULTS  </a:t>
            </a:r>
            <a:r>
              <a:rPr lang="en-US" sz="2200" b="1" dirty="0">
                <a:solidFill>
                  <a:srgbClr val="FFFFFF"/>
                </a:solidFill>
              </a:rPr>
              <a:t>Evaluation Metrics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92024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241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D9E75"/>
                </a:solidFill>
              </a:rPr>
              <a:t>0.838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17099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Real mean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plausibility 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68880" y="960120"/>
            <a:ext cx="1920240" cy="6400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10241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9F27"/>
                </a:solidFill>
              </a:rPr>
              <a:t>0.106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68880" y="17099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Fake mean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plausibility score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9601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960120"/>
            <a:ext cx="19202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17720" y="10241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</a:rPr>
              <a:t>0.732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17720" y="17099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Separation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gap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9601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66560" y="960120"/>
            <a:ext cx="192024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10241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1B2A"/>
                </a:solidFill>
              </a:rPr>
              <a:t>0.9963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766560" y="17099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AUC-ROC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423160"/>
            <a:ext cx="40233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423160"/>
            <a:ext cx="4023360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423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Classification Metrics  (10th pct threshold)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2907792"/>
            <a:ext cx="4023360" cy="2697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907792"/>
            <a:ext cx="256032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Accuracy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17520" y="2907792"/>
            <a:ext cx="118872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</a:rPr>
              <a:t>98.6%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177540"/>
            <a:ext cx="402336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177540"/>
            <a:ext cx="256032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Sensitivity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17520" y="3177540"/>
            <a:ext cx="118872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</a:rPr>
              <a:t>90.0%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447288"/>
            <a:ext cx="4023360" cy="2697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447288"/>
            <a:ext cx="256032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Specificity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17520" y="3447288"/>
            <a:ext cx="118872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</a:rPr>
              <a:t>99.75%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3717036"/>
            <a:ext cx="402336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3717036"/>
            <a:ext cx="256032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Precision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017520" y="3717036"/>
            <a:ext cx="118872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</a:rPr>
              <a:t>97.96%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" y="3986784"/>
            <a:ext cx="4023360" cy="2697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3986784"/>
            <a:ext cx="256032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F1 Score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017520" y="3986784"/>
            <a:ext cx="118872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</a:rPr>
              <a:t>0.938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0040" y="4256532"/>
            <a:ext cx="402336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4256532"/>
            <a:ext cx="256032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AUC-PR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017520" y="4256532"/>
            <a:ext cx="118872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</a:rPr>
              <a:t>0.9791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0040" y="4526280"/>
            <a:ext cx="4023360" cy="2697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4526280"/>
            <a:ext cx="256032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KS Statistic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017520" y="4526280"/>
            <a:ext cx="118872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28090"/>
                </a:solidFill>
              </a:rPr>
              <a:t>0.9367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00600" y="2423160"/>
            <a:ext cx="40233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00600" y="2423160"/>
            <a:ext cx="40233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92040" y="2423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OOD Detection Performance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892040" y="2944368"/>
            <a:ext cx="38404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29200" y="29443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Fake below 10th pct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315200" y="294436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9E75"/>
                </a:solidFill>
              </a:rPr>
              <a:t>99.9%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892040" y="3419856"/>
            <a:ext cx="38404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029200" y="341985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Fake below 25th pct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315200" y="341985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9E75"/>
                </a:solidFill>
              </a:rPr>
              <a:t>99.9%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892040" y="3895344"/>
            <a:ext cx="38404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29200" y="389534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Real retained (10th)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315200" y="389534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28090"/>
                </a:solidFill>
              </a:rPr>
              <a:t>90.0%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4892040" y="4370832"/>
            <a:ext cx="384048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029200" y="43708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Fake wrongly kept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315200" y="437083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94A3B8"/>
                </a:solidFill>
              </a:rPr>
              <a:t>1 / 1200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4892040" y="4754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p-value (KS test): 1.05 × 10⁻¹⁴⁹  — distributions are statistically distinct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28090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Key Findings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cGAN discriminator learned the physiological distribution from reference data only — no fake data used in training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22576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3225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25856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samples scored mean 0.838 · Fake samples scored mean 0.106 · Separation gap of 0.732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72384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30723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008376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of biased samples detected as out-of-distribution at the 10th percentile threshold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822192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8221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758184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0.9963 · AUC-PR 0.979 · KS statistic 0.937 · Accuracy 98.6%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Tools: Python  ·  TensorFlow / Keras  ·  Scikit-learn  ·  Google Colab  ·  Matplotlib  ·  NumPy  ·  Pandas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655</Words>
  <Application>Microsoft Office PowerPoint</Application>
  <PresentationFormat>On-screen Show (16:9)</PresentationFormat>
  <Paragraphs>127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FFR Physiological Plausibility cGAN</dc:title>
  <dc:subject>PptxGenJS Presentation</dc:subject>
  <dc:creator>PptxGenJS</dc:creator>
  <cp:lastModifiedBy>Ramah Almazroui</cp:lastModifiedBy>
  <cp:revision>2</cp:revision>
  <dcterms:created xsi:type="dcterms:W3CDTF">2026-03-16T06:08:50Z</dcterms:created>
  <dcterms:modified xsi:type="dcterms:W3CDTF">2026-03-22T15:58:48Z</dcterms:modified>
</cp:coreProperties>
</file>